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Inter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EA8513-2580-43E6-8A0E-1AD22C019CE3}">
  <a:tblStyle styleId="{CCEA8513-2580-43E6-8A0E-1AD22C019C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11" Type="http://schemas.openxmlformats.org/officeDocument/2006/relationships/image" Target="../media/image11.png"/><Relationship Id="rId10" Type="http://schemas.openxmlformats.org/officeDocument/2006/relationships/image" Target="../media/image8.png"/><Relationship Id="rId9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42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6.png"/><Relationship Id="rId7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4843462" y="1609725"/>
            <a:ext cx="2505075" cy="209550"/>
          </a:xfrm>
          <a:prstGeom prst="roundRect">
            <a:avLst>
              <a:gd fmla="val 18181" name="adj"/>
            </a:avLst>
          </a:prstGeom>
          <a:solidFill>
            <a:srgbClr val="172337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190750" y="3648075"/>
            <a:ext cx="7810500" cy="1104900"/>
          </a:xfrm>
          <a:prstGeom prst="roundRect">
            <a:avLst>
              <a:gd fmla="val 10344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428875" y="3886200"/>
            <a:ext cx="2895600" cy="628650"/>
          </a:xfrm>
          <a:prstGeom prst="roundRect">
            <a:avLst>
              <a:gd fmla="val 9090" name="adj"/>
            </a:avLst>
          </a:prstGeom>
          <a:solidFill>
            <a:srgbClr val="090D16"/>
          </a:solidFill>
          <a:ln cap="flat" cmpd="sng" w="9525">
            <a:solidFill>
              <a:srgbClr val="1E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867525" y="3886200"/>
            <a:ext cx="2895600" cy="628650"/>
          </a:xfrm>
          <a:prstGeom prst="roundRect">
            <a:avLst>
              <a:gd fmla="val 9090" name="adj"/>
            </a:avLst>
          </a:prstGeom>
          <a:solidFill>
            <a:srgbClr val="090D16"/>
          </a:solidFill>
          <a:ln cap="flat" cmpd="sng" w="9525">
            <a:solidFill>
              <a:srgbClr val="1E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71750" y="4048125"/>
            <a:ext cx="1333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400" y="4048125"/>
            <a:ext cx="13335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606528" y="1638300"/>
            <a:ext cx="29789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OPERATING SYSTEMS HACKATHON PROJECT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70296" y="1971675"/>
            <a:ext cx="11251406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INTER-PROCESS CHAT APPLICATION USING IPC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881187" y="3057525"/>
            <a:ext cx="8429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Real-Time Communication Between Independent Linux Processes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842021" y="5095875"/>
            <a:ext cx="3059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Presenter: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[Your Name / Team Members]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711428" y="5095875"/>
            <a:ext cx="18930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Dept: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[Department Name]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54515" y="5095875"/>
            <a:ext cx="16549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Guide: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[Faculty Name]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571750" y="4029075"/>
            <a:ext cx="3262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Alice Process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2571750" y="4238625"/>
            <a:ext cx="32623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PID: 4012 | Status: ONLINE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5629275" y="4143375"/>
            <a:ext cx="9334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Pipes (IPC)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7010400" y="4029075"/>
            <a:ext cx="326231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Bob Process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7010400" y="4238625"/>
            <a:ext cx="3262312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PID: 4013 | Status: ONLINE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/>
          <p:nvPr/>
        </p:nvSpPr>
        <p:spPr>
          <a:xfrm>
            <a:off x="542925" y="6038850"/>
            <a:ext cx="11106150" cy="428625"/>
          </a:xfrm>
          <a:prstGeom prst="roundRect">
            <a:avLst>
              <a:gd fmla="val 8888" name="adj"/>
            </a:avLst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42925" y="6038850"/>
            <a:ext cx="38100" cy="428625"/>
          </a:xfrm>
          <a:prstGeom prst="rect">
            <a:avLst/>
          </a:prstGeom>
          <a:solidFill>
            <a:srgbClr val="6EF2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42925" y="1177230"/>
            <a:ext cx="5457825" cy="2240309"/>
          </a:xfrm>
          <a:prstGeom prst="roundRect">
            <a:avLst>
              <a:gd fmla="val 340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6191250" y="1177230"/>
            <a:ext cx="5457825" cy="2240309"/>
          </a:xfrm>
          <a:prstGeom prst="roundRect">
            <a:avLst>
              <a:gd fmla="val 340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42925" y="3608040"/>
            <a:ext cx="5457825" cy="2240309"/>
          </a:xfrm>
          <a:prstGeom prst="roundRect">
            <a:avLst>
              <a:gd fmla="val 340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191250" y="3608040"/>
            <a:ext cx="5457825" cy="2240309"/>
          </a:xfrm>
          <a:prstGeom prst="roundRect">
            <a:avLst>
              <a:gd fmla="val 340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39630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3827115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FUNDAMENTALS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Introduction to Inter-Process Communication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33425" y="6172200"/>
            <a:ext cx="10820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Core Principle:</a:t>
            </a:r>
            <a:r>
              <a:rPr b="0" i="0" lang="en-US" sz="10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 Real Linux processes, genuine kernel-managed message passing, and observable process IDs.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71550" y="1377255"/>
            <a:ext cx="60936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Operating System Processes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742950" y="1643955"/>
            <a:ext cx="5153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A process is an active instance of a running program with its own isolated virtual address space in RAM.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657975" y="1377255"/>
            <a:ext cx="5534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The Need for IPC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391275" y="1643955"/>
            <a:ext cx="5153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Isolated processes cannot access each other's memory directly. IPC mechanisms allow structured message passing managed by the kernel.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19150" y="3808065"/>
            <a:ext cx="62460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OS Pipe Implementation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742950" y="4074765"/>
            <a:ext cx="5153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Our application uses standard input/output pipes (stdin/stdout) managed by Linux kernel for process communication.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638925" y="3808065"/>
            <a:ext cx="5553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Interactive Visualization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6391275" y="4074765"/>
            <a:ext cx="5153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A Node.js backend &amp; React frontend bridge Linux kernel IPC to make real PIDs and acknowledgements observable.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542925" y="4436417"/>
            <a:ext cx="11106150" cy="762000"/>
          </a:xfrm>
          <a:prstGeom prst="roundRect">
            <a:avLst>
              <a:gd fmla="val 10000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42925" y="2446139"/>
            <a:ext cx="5224462" cy="1799778"/>
          </a:xfrm>
          <a:prstGeom prst="roundRect">
            <a:avLst>
              <a:gd fmla="val 4233" name="adj"/>
            </a:avLst>
          </a:prstGeom>
          <a:solidFill>
            <a:srgbClr val="140D12"/>
          </a:solidFill>
          <a:ln cap="flat" cmpd="sng" w="9525">
            <a:solidFill>
              <a:srgbClr val="3F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6424612" y="2446139"/>
            <a:ext cx="5224462" cy="1799778"/>
          </a:xfrm>
          <a:prstGeom prst="roundRect">
            <a:avLst>
              <a:gd fmla="val 4233" name="adj"/>
            </a:avLst>
          </a:prstGeom>
          <a:solidFill>
            <a:srgbClr val="0D1A15"/>
          </a:solidFill>
          <a:ln cap="flat" cmpd="sng" w="9525">
            <a:solidFill>
              <a:srgbClr val="1E3A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5987" y="323165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266521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4637" y="2665214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MOTIVATION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-297656" y="4636442"/>
            <a:ext cx="1278731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"How can we build a real-time application that demonstrates communication between independent Linux processes while making process status, message flow, and IPC behavior observable?"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71550" y="2646164"/>
            <a:ext cx="580191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777"/>
                </a:solidFill>
                <a:latin typeface="Inter"/>
                <a:ea typeface="Inter"/>
                <a:cs typeface="Inter"/>
                <a:sym typeface="Inter"/>
              </a:rPr>
              <a:t>Traditional IPC Learning Challenges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853237" y="2646164"/>
            <a:ext cx="5338762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Observable IPC Environment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47725" y="2933819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2931914"/>
            <a:ext cx="5816203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IPC concepts are taught abstractly through command-line utilities.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47725" y="3156614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14400" y="3154709"/>
            <a:ext cx="4748212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Process lifecycle and pipe state changes remain invisible inside terminal buffers.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847725" y="3602206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14400" y="3600301"/>
            <a:ext cx="5816203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Lack of real-time visual feedback for delivery acknowledgements.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47725" y="3825001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914400" y="3823096"/>
            <a:ext cx="5816203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Disconnect between OS-level C code and modern application UI.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729412" y="2933819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6796087" y="2931914"/>
            <a:ext cx="5395912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Visual dashboard displaying real Linux Process IDs (PIDs).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6729412" y="3156614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6796087" y="3154709"/>
            <a:ext cx="5395912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Live tracking of online/offline worker health states.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6729412" y="3379410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796087" y="3377505"/>
            <a:ext cx="5395912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Interactive message routing across OS stdin/stdout boundaries.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6729412" y="3602206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6796087" y="3600301"/>
            <a:ext cx="5395912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Instant feedback on message validation and error handling.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542925" y="1177230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3357562" y="1177230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172200" y="1177230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986837" y="1177230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42925" y="2556271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357562" y="2556271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172200" y="2556271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8986837" y="2556271"/>
            <a:ext cx="2662237" cy="1226641"/>
          </a:xfrm>
          <a:prstGeom prst="roundRect">
            <a:avLst>
              <a:gd fmla="val 6212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139630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7587" y="1396305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72225" y="13963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6862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2950" y="2775346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57587" y="2775346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72225" y="27753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86862" y="2775346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GOALS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Project Objectives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1009650" y="1377255"/>
            <a:ext cx="2561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1. C Workers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742950" y="1643955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Implement two independent C processes handling message IO via standard streams.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3824287" y="1377255"/>
            <a:ext cx="2561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2. OS Pipes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3557587" y="1643955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Establish robust stdin/stdout IPC communication managed by the Linux kernel.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581775" y="1377255"/>
            <a:ext cx="26181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 3. Node Bridge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372225" y="1643955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Build a Node.js process manager to spawn child processes and route incoming data.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9415462" y="1377255"/>
            <a:ext cx="2599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 4. Web Dashboard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9186862" y="1643955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Develop a responsive React dashboard connected over real-time Socket.IO events.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990600" y="2756296"/>
            <a:ext cx="258008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5. PID Tracking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742950" y="3022996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Fetch and display genuine operating system Process IDs and online status.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3824287" y="2756296"/>
            <a:ext cx="2561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6. Delivery ACK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3557587" y="3022996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Implement structured JSON acknowledgements upon successful worker execution.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6600825" y="2756296"/>
            <a:ext cx="25991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7. Fault Tolerant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6372225" y="3022996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Gracefully capture worker crashes, invalid formats, and pipe connection failures.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453562" y="2756296"/>
            <a:ext cx="256103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8. Educational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9186862" y="3022996"/>
            <a:ext cx="2357437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Demonstrate practical operating system concepts through an accessible interface.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7"/>
          <p:cNvSpPr/>
          <p:nvPr/>
        </p:nvSpPr>
        <p:spPr>
          <a:xfrm>
            <a:off x="542925" y="2759422"/>
            <a:ext cx="1962150" cy="800100"/>
          </a:xfrm>
          <a:prstGeom prst="roundRect">
            <a:avLst>
              <a:gd fmla="val 9523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2828925" y="2759422"/>
            <a:ext cx="1962150" cy="800100"/>
          </a:xfrm>
          <a:prstGeom prst="roundRect">
            <a:avLst>
              <a:gd fmla="val 9523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114925" y="2759422"/>
            <a:ext cx="1962150" cy="800100"/>
          </a:xfrm>
          <a:prstGeom prst="roundRect">
            <a:avLst>
              <a:gd fmla="val 9523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7400925" y="2759422"/>
            <a:ext cx="1962150" cy="800100"/>
          </a:xfrm>
          <a:prstGeom prst="roundRect">
            <a:avLst>
              <a:gd fmla="val 9523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9686925" y="2759422"/>
            <a:ext cx="1962150" cy="800100"/>
          </a:xfrm>
          <a:prstGeom prst="roundRect">
            <a:avLst>
              <a:gd fmla="val 9523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542925" y="3845272"/>
            <a:ext cx="5457825" cy="1040010"/>
          </a:xfrm>
          <a:prstGeom prst="roundRect">
            <a:avLst>
              <a:gd fmla="val 7326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6191250" y="3845272"/>
            <a:ext cx="5457825" cy="1040010"/>
          </a:xfrm>
          <a:prstGeom prst="roundRect">
            <a:avLst>
              <a:gd fmla="val 7326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0" name="Google Shape;21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9375" y="308327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5375" y="308327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1375" y="308327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77375" y="3083272"/>
            <a:ext cx="952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406434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4064347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WORKFLOW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Our Proposed Solution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476250" y="2902297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1. Input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476250" y="3130897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User selects sender/recipient on React frontend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2762250" y="2902297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2. Socket.IO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2762250" y="3130897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Emits WebSocket payload to Node backend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5048250" y="2902297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3. Pipe Write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5048250" y="3130897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Backend writes payload to C worker stdin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7334250" y="2902297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4. C Exec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7334250" y="3130897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Worker reads stdin &amp; outputs ACK via stdout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9620250" y="2902297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5. UI Update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9620250" y="3130897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Backend broadcasts delivery result to React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971550" y="4045297"/>
            <a:ext cx="60936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Web Layer Domain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742950" y="4311997"/>
            <a:ext cx="5153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Handles user interaction, message validation, ID assignment, and visual rendering over standard WebSockets.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6638925" y="4045297"/>
            <a:ext cx="5553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OS IPC Domain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6391275" y="4311997"/>
            <a:ext cx="51530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Isolated C binaries perform actual message processing and emit execution metrics over kernel standard stream pipes.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/>
          <p:nvPr/>
        </p:nvSpPr>
        <p:spPr>
          <a:xfrm>
            <a:off x="1333500" y="2245965"/>
            <a:ext cx="9525000" cy="3152775"/>
          </a:xfrm>
          <a:prstGeom prst="roundRect">
            <a:avLst>
              <a:gd fmla="val 302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1571625" y="2484090"/>
            <a:ext cx="9048750" cy="476250"/>
          </a:xfrm>
          <a:prstGeom prst="roundRect">
            <a:avLst>
              <a:gd fmla="val 12000" name="adj"/>
            </a:avLst>
          </a:prstGeom>
          <a:solidFill>
            <a:srgbClr val="090D16"/>
          </a:solidFill>
          <a:ln cap="flat" cmpd="sng" w="9525">
            <a:solidFill>
              <a:srgbClr val="1E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1571625" y="3493740"/>
            <a:ext cx="9048750" cy="476250"/>
          </a:xfrm>
          <a:prstGeom prst="roundRect">
            <a:avLst>
              <a:gd fmla="val 12000" name="adj"/>
            </a:avLst>
          </a:prstGeom>
          <a:solidFill>
            <a:srgbClr val="090D16"/>
          </a:solidFill>
          <a:ln cap="flat" cmpd="sng" w="9525">
            <a:solidFill>
              <a:srgbClr val="1E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1571625" y="4503390"/>
            <a:ext cx="4429125" cy="657225"/>
          </a:xfrm>
          <a:prstGeom prst="roundRect">
            <a:avLst>
              <a:gd fmla="val 8695" name="adj"/>
            </a:avLst>
          </a:prstGeom>
          <a:solidFill>
            <a:srgbClr val="172337"/>
          </a:solidFill>
          <a:ln cap="flat" cmpd="sng" w="9525">
            <a:solidFill>
              <a:srgbClr val="6EF2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6191250" y="4503390"/>
            <a:ext cx="4429125" cy="657225"/>
          </a:xfrm>
          <a:prstGeom prst="roundRect">
            <a:avLst>
              <a:gd fmla="val 8695" name="adj"/>
            </a:avLst>
          </a:prstGeom>
          <a:solidFill>
            <a:srgbClr val="172337"/>
          </a:solidFill>
          <a:ln cap="flat" cmpd="sng" w="9525">
            <a:solidFill>
              <a:srgbClr val="6EF2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1112" y="3169890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91125" y="4179540"/>
            <a:ext cx="76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4500" y="262696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4500" y="363661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33550" y="4684365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3175" y="4684365"/>
            <a:ext cx="1524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DIAGRAM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440531" y="3150840"/>
            <a:ext cx="11310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Socket.IO (WebSocket Events)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440531" y="4160490"/>
            <a:ext cx="113109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Pipes (stdin / stdout)</a:t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7648575" y="2650777"/>
            <a:ext cx="353615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Interactive Dashboard / Sender Selection / Live Logs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7839075" y="3660427"/>
            <a:ext cx="329803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Process Router / Child Process Manager (spawn)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2000250" y="2641252"/>
            <a:ext cx="17383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React Frontend (Vite)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1981200" y="3650902"/>
            <a:ext cx="208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Node.js Express Backend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1733550" y="4665315"/>
            <a:ext cx="5131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Alice Process (C Binary)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1733550" y="4865340"/>
            <a:ext cx="51315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Child Process | PID: [Auto Assigned]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6353175" y="4665315"/>
            <a:ext cx="5131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Bob Process (C Binary)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6353175" y="4865340"/>
            <a:ext cx="5131593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 Child Process | PID: [Auto Assigned]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/>
          <p:nvPr/>
        </p:nvSpPr>
        <p:spPr>
          <a:xfrm>
            <a:off x="542925" y="1177230"/>
            <a:ext cx="5457825" cy="1335137"/>
          </a:xfrm>
          <a:prstGeom prst="roundRect">
            <a:avLst>
              <a:gd fmla="val 5707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6191250" y="1177230"/>
            <a:ext cx="5457825" cy="1335137"/>
          </a:xfrm>
          <a:prstGeom prst="roundRect">
            <a:avLst>
              <a:gd fmla="val 5707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542925" y="2702867"/>
            <a:ext cx="5457825" cy="1557932"/>
          </a:xfrm>
          <a:prstGeom prst="roundRect">
            <a:avLst>
              <a:gd fmla="val 489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6191250" y="2702867"/>
            <a:ext cx="5457825" cy="1557932"/>
          </a:xfrm>
          <a:prstGeom prst="roundRect">
            <a:avLst>
              <a:gd fmla="val 489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3963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292194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1275" y="292194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9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TOOLS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971550" y="1377255"/>
            <a:ext cx="60936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 Frontend UI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6600825" y="1377255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 Backend Server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933450" y="2902892"/>
            <a:ext cx="61317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IPC Workers</a:t>
            </a:r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6600825" y="2902892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 Environment</a:t>
            </a:r>
            <a:endParaRPr/>
          </a:p>
        </p:txBody>
      </p:sp>
      <p:sp>
        <p:nvSpPr>
          <p:cNvPr id="279" name="Google Shape;279;p19"/>
          <p:cNvSpPr txBox="1"/>
          <p:nvPr/>
        </p:nvSpPr>
        <p:spPr>
          <a:xfrm>
            <a:off x="847725" y="1645860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914400" y="1643955"/>
            <a:ext cx="6107906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React &amp; Vite: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Ultra-fast component rendering and dynamic state management.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847725" y="1868656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914400" y="1866751"/>
            <a:ext cx="6107906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Socket.IO Client: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Maintains full-duplex socket channel with the server.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847725" y="2091451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914400" y="2089546"/>
            <a:ext cx="6107906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Custom CSS: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Dark terminal aesthetic designed for OS technical evaluation.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6496050" y="1645860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6562725" y="1643955"/>
            <a:ext cx="562927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Node.js &amp; Express: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Event-driven runtime for handling asynchronous I/O streams.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6496050" y="1868656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6562725" y="1866751"/>
            <a:ext cx="562927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child_process Module: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Utilizes </a:t>
            </a:r>
            <a:r>
              <a:rPr b="0" i="0" lang="en-US" sz="975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spawn()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to launch C binary executables.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6496050" y="2091451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6562725" y="2089546"/>
            <a:ext cx="562927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Stream Handlers: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Pipes string payloads directly into worker standard input.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847725" y="3171497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914400" y="3169592"/>
            <a:ext cx="6107906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C Language: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Native code compiled with GCC for minimal overhead execution.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847725" y="3394293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914400" y="3392388"/>
            <a:ext cx="498157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Standard I/O Pipes: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Captures inputs via </a:t>
            </a:r>
            <a:r>
              <a:rPr b="0" i="0" lang="en-US" sz="975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fgets()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and emits responses via </a:t>
            </a:r>
            <a:r>
              <a:rPr b="0" i="0" lang="en-US" sz="975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printf()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847725" y="3839884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914400" y="3837979"/>
            <a:ext cx="6107906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unistd.h: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Accesses Linux system call APIs like </a:t>
            </a:r>
            <a:r>
              <a:rPr b="0" i="0" lang="en-US" sz="975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getpid()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6496050" y="3171497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6562725" y="3169592"/>
            <a:ext cx="4981575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Ubuntu Linux (WSL2):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Native POSIX environment managing OS process schedules.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6496050" y="3617088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6562725" y="3615183"/>
            <a:ext cx="562927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GCC Compiler: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Compiles C source files into standalone native executables.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6496050" y="3839884"/>
            <a:ext cx="66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6562725" y="3837979"/>
            <a:ext cx="562927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7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NPM Ecosystem:</a:t>
            </a: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 Manages web dependencies and development tooling.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/>
          <p:nvPr/>
        </p:nvSpPr>
        <p:spPr>
          <a:xfrm>
            <a:off x="542925" y="2630537"/>
            <a:ext cx="11106150" cy="3246387"/>
          </a:xfrm>
          <a:prstGeom prst="roundRect">
            <a:avLst>
              <a:gd fmla="val 1760" name="adj"/>
            </a:avLst>
          </a:prstGeom>
          <a:solidFill>
            <a:srgbClr val="0D131F"/>
          </a:solidFill>
          <a:ln cap="flat" cmpd="sng" w="9525">
            <a:solidFill>
              <a:srgbClr val="1A2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542925" y="6067425"/>
            <a:ext cx="11106150" cy="400050"/>
          </a:xfrm>
          <a:prstGeom prst="roundRect">
            <a:avLst>
              <a:gd fmla="val 14285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542925" y="1177230"/>
            <a:ext cx="5457825" cy="1262806"/>
          </a:xfrm>
          <a:prstGeom prst="roundRect">
            <a:avLst>
              <a:gd fmla="val 6034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6191250" y="1177230"/>
            <a:ext cx="5457825" cy="1262806"/>
          </a:xfrm>
          <a:prstGeom prst="roundRect">
            <a:avLst>
              <a:gd fmla="val 6034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3162300" y="1643955"/>
            <a:ext cx="1571625" cy="222795"/>
          </a:xfrm>
          <a:prstGeom prst="roundRect">
            <a:avLst>
              <a:gd fmla="val 17100" name="adj"/>
            </a:avLst>
          </a:prstGeom>
          <a:solidFill>
            <a:srgbClr val="172337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9544050" y="1643955"/>
            <a:ext cx="304800" cy="222795"/>
          </a:xfrm>
          <a:prstGeom prst="roundRect">
            <a:avLst>
              <a:gd fmla="val 17100" name="adj"/>
            </a:avLst>
          </a:prstGeom>
          <a:solidFill>
            <a:srgbClr val="172337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4" name="Google Shape;3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62103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0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DEEP DIVE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IPC Implementation Using Pipes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-355996" y="2763887"/>
            <a:ext cx="12903993" cy="2979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Operating System Pipe Communication Flow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[ Node.js Backend ] │ ├─── (Write JSON payload + '\n') ───► [ Pipe: stdin (FD 0) ] ───► [ Alice C Binary ] │ │ │ (Process Message) │ │ └─── (Read ACK JSON + '\n') ◄─────── [ Pipe: stdout (FD 1) ] ◄──────────┘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971550" y="1377255"/>
            <a:ext cx="60936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Stream Pipelines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742950" y="1643955"/>
            <a:ext cx="5153025" cy="596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When Node launches a C binary using , the kernel creates three standard streams (stdin, stdout, stderr) attached to file descriptors.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6619875" y="1377255"/>
            <a:ext cx="557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Message Framing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6391275" y="1643955"/>
            <a:ext cx="5153025" cy="409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Messages are delimited using newline characters () to ensure complete payload framing across buffer reads.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3238500" y="1672530"/>
            <a:ext cx="1514475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child_process.spawn()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9620250" y="1672530"/>
            <a:ext cx="247650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\n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/>
          <p:nvPr/>
        </p:nvSpPr>
        <p:spPr>
          <a:xfrm>
            <a:off x="542925" y="2369790"/>
            <a:ext cx="11106150" cy="2600325"/>
          </a:xfrm>
          <a:prstGeom prst="roundRect">
            <a:avLst>
              <a:gd fmla="val 2930" name="adj"/>
            </a:avLst>
          </a:prstGeom>
          <a:solidFill>
            <a:srgbClr val="0D131F"/>
          </a:solidFill>
          <a:ln cap="flat" cmpd="sng" w="9525">
            <a:solidFill>
              <a:srgbClr val="1A2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2" name="Google Shape;3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5725" y="5141565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1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SEQUENCE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End-to-End Message Flow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-422671" y="5122515"/>
            <a:ext cx="1303734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Delivery ACK confirms C process read and processed the stdin stream.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781050" y="2607915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SENDER (Browser)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5562600" y="2607915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 BACKEND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10077450" y="2607915"/>
            <a:ext cx="1666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RECEIVER (C Process)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781050" y="2979390"/>
            <a:ext cx="27503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User types message &amp; hits Send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6529833" y="2979390"/>
            <a:ext cx="16655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─── chat:send ───►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4995862" y="3284190"/>
            <a:ext cx="275034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9EE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Validates &amp; assigns Message ID</a:t>
            </a:r>
            <a:endParaRPr/>
          </a:p>
        </p:txBody>
      </p:sp>
      <p:sp>
        <p:nvSpPr>
          <p:cNvPr id="342" name="Google Shape;342;p21"/>
          <p:cNvSpPr txBox="1"/>
          <p:nvPr/>
        </p:nvSpPr>
        <p:spPr>
          <a:xfrm>
            <a:off x="4396233" y="3588990"/>
            <a:ext cx="24990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─── Write stdin payload ───►</a:t>
            </a:r>
            <a:endParaRPr/>
          </a:p>
        </p:txBody>
      </p:sp>
      <p:sp>
        <p:nvSpPr>
          <p:cNvPr id="343" name="Google Shape;343;p21"/>
          <p:cNvSpPr txBox="1"/>
          <p:nvPr/>
        </p:nvSpPr>
        <p:spPr>
          <a:xfrm>
            <a:off x="10010626" y="3588990"/>
            <a:ext cx="175021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Reads stdin stream</a:t>
            </a:r>
            <a:endParaRPr/>
          </a:p>
        </p:txBody>
      </p:sp>
      <p:sp>
        <p:nvSpPr>
          <p:cNvPr id="344" name="Google Shape;344;p21"/>
          <p:cNvSpPr txBox="1"/>
          <p:nvPr/>
        </p:nvSpPr>
        <p:spPr>
          <a:xfrm>
            <a:off x="9144000" y="3893790"/>
            <a:ext cx="2833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 Processes payload &amp; fetches PID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4074765" y="4198590"/>
            <a:ext cx="255277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◄─── Write stdout ACK ──────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9410700" y="4198590"/>
            <a:ext cx="250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 Emits ACK via stdout stream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781050" y="450339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6. Updates UI Delivery Checkmark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6084391" y="4503390"/>
            <a:ext cx="26958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◄─── chat:ack ──────────────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2"/>
          <p:cNvSpPr/>
          <p:nvPr/>
        </p:nvSpPr>
        <p:spPr>
          <a:xfrm>
            <a:off x="542925" y="1558230"/>
            <a:ext cx="16954500" cy="4909244"/>
          </a:xfrm>
          <a:prstGeom prst="roundRect">
            <a:avLst>
              <a:gd fmla="val 1164" name="adj"/>
            </a:avLst>
          </a:prstGeom>
          <a:solidFill>
            <a:srgbClr val="0D131F"/>
          </a:solidFill>
          <a:ln cap="flat" cmpd="sng" w="9525">
            <a:solidFill>
              <a:srgbClr val="1A2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17687925" y="1558230"/>
            <a:ext cx="22888575" cy="4909244"/>
          </a:xfrm>
          <a:prstGeom prst="roundRect">
            <a:avLst>
              <a:gd fmla="val 1164" name="adj"/>
            </a:avLst>
          </a:prstGeom>
          <a:solidFill>
            <a:srgbClr val="0D131F"/>
          </a:solidFill>
          <a:ln cap="flat" cmpd="sng" w="9525">
            <a:solidFill>
              <a:srgbClr val="1A2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6" name="Google Shape;3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19628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687925" y="119628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CODE</a:t>
            </a:r>
            <a:endParaRPr/>
          </a:p>
        </p:txBody>
      </p:sp>
      <p:sp>
        <p:nvSpPr>
          <p:cNvPr id="359" name="Google Shape;359;p22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Core Implementation Highlights</a:t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676275" y="1691580"/>
            <a:ext cx="11515725" cy="464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#include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#include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char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buffer[1024];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pid = 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getpid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while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fgets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(buffer,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sizeof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(buffer), stdin)) { </a:t>
            </a:r>
            <a:r>
              <a:rPr b="0" i="0" lang="en-US" sz="900" u="none" cap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Print ACK JSON to stdout FD 1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printf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"{\"status\":\"ACK\",\"pid\":%d}\n"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pid); 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fflush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(stdout); </a:t>
            </a:r>
            <a:r>
              <a:rPr b="0" i="0" lang="en-US" sz="900" u="none" cap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Flush OS buffer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0; }</a:t>
            </a:r>
            <a:endParaRPr/>
          </a:p>
        </p:txBody>
      </p:sp>
      <p:sp>
        <p:nvSpPr>
          <p:cNvPr id="361" name="Google Shape;361;p22"/>
          <p:cNvSpPr txBox="1"/>
          <p:nvPr/>
        </p:nvSpPr>
        <p:spPr>
          <a:xfrm>
            <a:off x="17821275" y="1691580"/>
            <a:ext cx="0" cy="4642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 spawn } = 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require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'child_process'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r>
              <a:rPr b="0" i="0" lang="en-US" sz="900" u="none" cap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Spawn C process executable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alice = 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spawn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'./worker'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[</a:t>
            </a: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'Alice'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]); </a:t>
            </a:r>
            <a:r>
              <a:rPr b="0" i="0" lang="en-US" sz="900" u="none" cap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Write payload to C process stdin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alice.stdin.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write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(JSON.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stringify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(msg) + </a:t>
            </a: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'\n'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</a:t>
            </a:r>
            <a:r>
              <a:rPr b="0" i="0" lang="en-US" sz="900" u="none" cap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Read C process stdout stream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alice.stdout.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'data'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(data) =&gt; { </a:t>
            </a:r>
            <a:r>
              <a:rPr b="0" i="0" lang="en-US" sz="90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ack = JSON.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parse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(data.toString()); io.</a:t>
            </a:r>
            <a:r>
              <a:rPr b="0" i="0" lang="en-US" sz="900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emit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90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'chat:ack'</a:t>
            </a: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ack); });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2162175" y="1181992"/>
            <a:ext cx="101738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Arial"/>
                <a:ea typeface="Arial"/>
                <a:cs typeface="Arial"/>
                <a:sym typeface="Arial"/>
              </a:rPr>
              <a:t>worker.c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19145250" y="1181992"/>
            <a:ext cx="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Arial"/>
                <a:ea typeface="Arial"/>
                <a:cs typeface="Arial"/>
                <a:sym typeface="Arial"/>
              </a:rPr>
              <a:t>ipc_manager.js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8" name="Google Shape;3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3"/>
          <p:cNvSpPr/>
          <p:nvPr/>
        </p:nvSpPr>
        <p:spPr>
          <a:xfrm>
            <a:off x="542925" y="1177230"/>
            <a:ext cx="11106150" cy="5290244"/>
          </a:xfrm>
          <a:prstGeom prst="roundRect">
            <a:avLst>
              <a:gd fmla="val 1440" name="adj"/>
            </a:avLst>
          </a:prstGeom>
          <a:solidFill>
            <a:srgbClr val="0D131F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704850" y="2501205"/>
            <a:ext cx="10782300" cy="3804344"/>
          </a:xfrm>
          <a:prstGeom prst="roundRect">
            <a:avLst>
              <a:gd fmla="val 1502" name="adj"/>
            </a:avLst>
          </a:prstGeom>
          <a:solidFill>
            <a:srgbClr val="111927"/>
          </a:solidFill>
          <a:ln cap="flat" cmpd="sng" w="9525">
            <a:solidFill>
              <a:srgbClr val="1A2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10182225" y="1339155"/>
            <a:ext cx="1304925" cy="209550"/>
          </a:xfrm>
          <a:prstGeom prst="roundRect">
            <a:avLst>
              <a:gd fmla="val 18181" name="adj"/>
            </a:avLst>
          </a:prstGeom>
          <a:solidFill>
            <a:srgbClr val="17292E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04850" y="1786830"/>
            <a:ext cx="5314950" cy="581025"/>
          </a:xfrm>
          <a:prstGeom prst="roundRect">
            <a:avLst>
              <a:gd fmla="val 9836" name="adj"/>
            </a:avLst>
          </a:prstGeom>
          <a:solidFill>
            <a:srgbClr val="111927"/>
          </a:solidFill>
          <a:ln cap="flat" cmpd="sng" w="9525">
            <a:solidFill>
              <a:srgbClr val="1E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6172200" y="1786830"/>
            <a:ext cx="5314950" cy="581025"/>
          </a:xfrm>
          <a:prstGeom prst="roundRect">
            <a:avLst>
              <a:gd fmla="val 9836" name="adj"/>
            </a:avLst>
          </a:prstGeom>
          <a:solidFill>
            <a:srgbClr val="111927"/>
          </a:solidFill>
          <a:ln cap="flat" cmpd="sng" w="9525">
            <a:solidFill>
              <a:srgbClr val="1E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4" name="Google Shape;3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850" y="1382017"/>
            <a:ext cx="1428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3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INTERFACE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Interactive IPC Dashboard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704850" y="1362967"/>
            <a:ext cx="22740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IPC Monitor Dashboard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10258425" y="1367730"/>
            <a:ext cx="12477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SYSTEM HEALTH: OK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828675" y="2625030"/>
            <a:ext cx="11363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[10:14:02]</a:t>
            </a: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Alice (PID 4012) ──► Bob: "Hello Bob, verifying IPC pipe connection."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828675" y="2834580"/>
            <a:ext cx="11363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[10:14:02] ACK received from Bob (PID 4013) via stdout pipe [Latency: 1.2ms]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828675" y="3044130"/>
            <a:ext cx="113633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[10:14:15]</a:t>
            </a: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Bob (PID 4013) ──► Alice: "Acknowledged Alice. Pipe FD open."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828675" y="2110680"/>
            <a:ext cx="63341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PID: 4012 | Pipe: FD 0 / FD 1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6296025" y="2110680"/>
            <a:ext cx="58959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6A5B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PID: 4013 | Pipe: FD 0 / FD 1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828675" y="1910655"/>
            <a:ext cx="1047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Alice Process</a:t>
            </a:r>
            <a:endParaRPr/>
          </a:p>
        </p:txBody>
      </p:sp>
      <p:sp>
        <p:nvSpPr>
          <p:cNvPr id="385" name="Google Shape;385;p23"/>
          <p:cNvSpPr txBox="1"/>
          <p:nvPr/>
        </p:nvSpPr>
        <p:spPr>
          <a:xfrm>
            <a:off x="5476875" y="1910655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ONLINE</a:t>
            </a:r>
            <a:endParaRPr/>
          </a:p>
        </p:txBody>
      </p:sp>
      <p:sp>
        <p:nvSpPr>
          <p:cNvPr id="386" name="Google Shape;386;p23"/>
          <p:cNvSpPr txBox="1"/>
          <p:nvPr/>
        </p:nvSpPr>
        <p:spPr>
          <a:xfrm>
            <a:off x="6296025" y="1910655"/>
            <a:ext cx="9810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Bob Process</a:t>
            </a:r>
            <a:endParaRPr/>
          </a:p>
        </p:txBody>
      </p:sp>
      <p:sp>
        <p:nvSpPr>
          <p:cNvPr id="387" name="Google Shape;387;p23"/>
          <p:cNvSpPr txBox="1"/>
          <p:nvPr/>
        </p:nvSpPr>
        <p:spPr>
          <a:xfrm>
            <a:off x="10944225" y="1910655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ONLINE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4"/>
          <p:cNvSpPr/>
          <p:nvPr/>
        </p:nvSpPr>
        <p:spPr>
          <a:xfrm>
            <a:off x="542925" y="3636317"/>
            <a:ext cx="11106150" cy="514350"/>
          </a:xfrm>
          <a:prstGeom prst="roundRect">
            <a:avLst>
              <a:gd fmla="val 14814" name="adj"/>
            </a:avLst>
          </a:prstGeom>
          <a:solidFill>
            <a:srgbClr val="1119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542925" y="1177230"/>
            <a:ext cx="5476875" cy="1076176"/>
          </a:xfrm>
          <a:prstGeom prst="roundRect">
            <a:avLst>
              <a:gd fmla="val 7080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6172200" y="1177230"/>
            <a:ext cx="5476875" cy="1076176"/>
          </a:xfrm>
          <a:prstGeom prst="roundRect">
            <a:avLst>
              <a:gd fmla="val 7080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542925" y="2405806"/>
            <a:ext cx="5476875" cy="1040010"/>
          </a:xfrm>
          <a:prstGeom prst="roundRect">
            <a:avLst>
              <a:gd fmla="val 7326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6172200" y="2405806"/>
            <a:ext cx="5476875" cy="1040010"/>
          </a:xfrm>
          <a:prstGeom prst="roundRect">
            <a:avLst>
              <a:gd fmla="val 7326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2667000" y="3788717"/>
            <a:ext cx="971550" cy="209550"/>
          </a:xfrm>
          <a:prstGeom prst="roundRect">
            <a:avLst>
              <a:gd fmla="val 18181" name="adj"/>
            </a:avLst>
          </a:prstGeom>
          <a:solidFill>
            <a:srgbClr val="1A2F35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5657850" y="3788717"/>
            <a:ext cx="1038225" cy="209550"/>
          </a:xfrm>
          <a:prstGeom prst="roundRect">
            <a:avLst>
              <a:gd fmla="val 18181" name="adj"/>
            </a:avLst>
          </a:prstGeom>
          <a:solidFill>
            <a:srgbClr val="29222F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4524375" y="1643955"/>
            <a:ext cx="438150" cy="222795"/>
          </a:xfrm>
          <a:prstGeom prst="roundRect">
            <a:avLst>
              <a:gd fmla="val 17100" name="adj"/>
            </a:avLst>
          </a:prstGeom>
          <a:solidFill>
            <a:srgbClr val="172337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1" name="Google Shape;4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2225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" y="262488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2225" y="2624881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4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RESILIENCE</a:t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Error Handling &amp; Reliability</a:t>
            </a:r>
            <a:endParaRPr/>
          </a:p>
        </p:txBody>
      </p:sp>
      <p:sp>
        <p:nvSpPr>
          <p:cNvPr id="407" name="Google Shape;407;p24"/>
          <p:cNvSpPr txBox="1"/>
          <p:nvPr/>
        </p:nvSpPr>
        <p:spPr>
          <a:xfrm>
            <a:off x="2743200" y="3817292"/>
            <a:ext cx="914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NORMAL STATE</a:t>
            </a:r>
            <a:endParaRPr/>
          </a:p>
        </p:txBody>
      </p:sp>
      <p:sp>
        <p:nvSpPr>
          <p:cNvPr id="408" name="Google Shape;408;p24"/>
          <p:cNvSpPr txBox="1"/>
          <p:nvPr/>
        </p:nvSpPr>
        <p:spPr>
          <a:xfrm>
            <a:off x="3790950" y="3817292"/>
            <a:ext cx="1893093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PIDs Active &amp; Responding</a:t>
            </a:r>
            <a:endParaRPr/>
          </a:p>
        </p:txBody>
      </p:sp>
      <p:sp>
        <p:nvSpPr>
          <p:cNvPr id="409" name="Google Shape;409;p24"/>
          <p:cNvSpPr txBox="1"/>
          <p:nvPr/>
        </p:nvSpPr>
        <p:spPr>
          <a:xfrm>
            <a:off x="5457825" y="3798242"/>
            <a:ext cx="33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|</a:t>
            </a:r>
            <a:endParaRPr/>
          </a:p>
        </p:txBody>
      </p:sp>
      <p:sp>
        <p:nvSpPr>
          <p:cNvPr id="410" name="Google Shape;410;p24"/>
          <p:cNvSpPr txBox="1"/>
          <p:nvPr/>
        </p:nvSpPr>
        <p:spPr>
          <a:xfrm>
            <a:off x="5734050" y="3817292"/>
            <a:ext cx="981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FF777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FAILURE STATE</a:t>
            </a:r>
            <a:endParaRPr/>
          </a:p>
        </p:txBody>
      </p:sp>
      <p:sp>
        <p:nvSpPr>
          <p:cNvPr id="411" name="Google Shape;411;p24"/>
          <p:cNvSpPr txBox="1"/>
          <p:nvPr/>
        </p:nvSpPr>
        <p:spPr>
          <a:xfrm>
            <a:off x="6848475" y="3817292"/>
            <a:ext cx="33456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Process Offline / Pipe Broken Alert Triggered</a:t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971550" y="1377255"/>
            <a:ext cx="61174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777"/>
                </a:solidFill>
                <a:latin typeface="Inter"/>
                <a:ea typeface="Inter"/>
                <a:cs typeface="Inter"/>
                <a:sym typeface="Inter"/>
              </a:rPr>
              <a:t>Worker Crash Recovery</a:t>
            </a:r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742950" y="1643955"/>
            <a:ext cx="5172075" cy="4094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If a C worker process exits unexpectedly, Node catches the event, notifies the UI, and automatically restarts the process.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6600825" y="1377255"/>
            <a:ext cx="5591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777"/>
                </a:solidFill>
                <a:latin typeface="Inter"/>
                <a:ea typeface="Inter"/>
                <a:cs typeface="Inter"/>
                <a:sym typeface="Inter"/>
              </a:rPr>
              <a:t>Pipe Timeout Detection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6372225" y="1643955"/>
            <a:ext cx="51720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A 3-second acknowledgement timer runs on each write. If standard output produces no ACK, the UI flags a delivery failure.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971550" y="2605831"/>
            <a:ext cx="61174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777"/>
                </a:solidFill>
                <a:latin typeface="Inter"/>
                <a:ea typeface="Inter"/>
                <a:cs typeface="Inter"/>
                <a:sym typeface="Inter"/>
              </a:rPr>
              <a:t>Malformed Data Filtering</a:t>
            </a:r>
            <a:endParaRPr/>
          </a:p>
        </p:txBody>
      </p:sp>
      <p:sp>
        <p:nvSpPr>
          <p:cNvPr id="417" name="Google Shape;417;p24"/>
          <p:cNvSpPr txBox="1"/>
          <p:nvPr/>
        </p:nvSpPr>
        <p:spPr>
          <a:xfrm>
            <a:off x="742950" y="2872531"/>
            <a:ext cx="51720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The backend validates string formats prior to writing to stdin to prevent buffer overflows or crashes in the target C worker.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6619875" y="2605831"/>
            <a:ext cx="5572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7777"/>
                </a:solidFill>
                <a:latin typeface="Inter"/>
                <a:ea typeface="Inter"/>
                <a:cs typeface="Inter"/>
                <a:sym typeface="Inter"/>
              </a:rPr>
              <a:t>Disconnection Management</a:t>
            </a:r>
            <a:endParaRPr/>
          </a:p>
        </p:txBody>
      </p:sp>
      <p:sp>
        <p:nvSpPr>
          <p:cNvPr id="419" name="Google Shape;419;p24"/>
          <p:cNvSpPr txBox="1"/>
          <p:nvPr/>
        </p:nvSpPr>
        <p:spPr>
          <a:xfrm>
            <a:off x="6372225" y="2872531"/>
            <a:ext cx="517207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If the browser disconnects, worker processes remain safely alive in Linux background space without leaking file descriptors.</a:t>
            </a:r>
            <a:endParaRPr/>
          </a:p>
        </p:txBody>
      </p:sp>
      <p:sp>
        <p:nvSpPr>
          <p:cNvPr id="420" name="Google Shape;420;p24"/>
          <p:cNvSpPr txBox="1"/>
          <p:nvPr/>
        </p:nvSpPr>
        <p:spPr>
          <a:xfrm>
            <a:off x="4600575" y="1672530"/>
            <a:ext cx="381000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exit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5" name="Google Shape;4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5"/>
          <p:cNvSpPr/>
          <p:nvPr/>
        </p:nvSpPr>
        <p:spPr>
          <a:xfrm>
            <a:off x="542925" y="3501330"/>
            <a:ext cx="11106150" cy="853380"/>
          </a:xfrm>
          <a:prstGeom prst="roundRect">
            <a:avLst>
              <a:gd fmla="val 8929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542925" y="1520130"/>
            <a:ext cx="2568475" cy="19050"/>
          </a:xfrm>
          <a:prstGeom prst="rect">
            <a:avLst/>
          </a:prstGeom>
          <a:solidFill>
            <a:srgbClr val="1C2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3111400" y="1520130"/>
            <a:ext cx="4256484" cy="19050"/>
          </a:xfrm>
          <a:prstGeom prst="rect">
            <a:avLst/>
          </a:prstGeom>
          <a:solidFill>
            <a:srgbClr val="1C2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7367885" y="1520130"/>
            <a:ext cx="3351311" cy="19050"/>
          </a:xfrm>
          <a:prstGeom prst="rect">
            <a:avLst/>
          </a:prstGeom>
          <a:solidFill>
            <a:srgbClr val="1C2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10719196" y="1520130"/>
            <a:ext cx="929878" cy="19050"/>
          </a:xfrm>
          <a:prstGeom prst="rect">
            <a:avLst/>
          </a:prstGeom>
          <a:solidFill>
            <a:srgbClr val="1C2A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542925" y="1886842"/>
            <a:ext cx="2568475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3111400" y="1886842"/>
            <a:ext cx="4256484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7367885" y="1886842"/>
            <a:ext cx="3351311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10719196" y="1886842"/>
            <a:ext cx="929878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542925" y="2239267"/>
            <a:ext cx="2568475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3111400" y="2239267"/>
            <a:ext cx="4256484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7367885" y="2239267"/>
            <a:ext cx="3351311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/>
          <p:nvPr/>
        </p:nvSpPr>
        <p:spPr>
          <a:xfrm>
            <a:off x="10719196" y="2239267"/>
            <a:ext cx="929878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5"/>
          <p:cNvSpPr/>
          <p:nvPr/>
        </p:nvSpPr>
        <p:spPr>
          <a:xfrm>
            <a:off x="542925" y="2591692"/>
            <a:ext cx="2568475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3111400" y="2591692"/>
            <a:ext cx="4256484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7367885" y="2591692"/>
            <a:ext cx="3351311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10719196" y="2591692"/>
            <a:ext cx="929878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5"/>
          <p:cNvSpPr/>
          <p:nvPr/>
        </p:nvSpPr>
        <p:spPr>
          <a:xfrm>
            <a:off x="542925" y="2944117"/>
            <a:ext cx="2568475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3111400" y="2944117"/>
            <a:ext cx="4256484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7367885" y="2944117"/>
            <a:ext cx="3351311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10719196" y="2944117"/>
            <a:ext cx="929878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542925" y="3296542"/>
            <a:ext cx="2568475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3111400" y="3296542"/>
            <a:ext cx="4256484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7367885" y="3296542"/>
            <a:ext cx="3351311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5"/>
          <p:cNvSpPr/>
          <p:nvPr/>
        </p:nvSpPr>
        <p:spPr>
          <a:xfrm>
            <a:off x="10719196" y="3296542"/>
            <a:ext cx="929878" cy="9525"/>
          </a:xfrm>
          <a:prstGeom prst="rect">
            <a:avLst/>
          </a:prstGeom>
          <a:solidFill>
            <a:srgbClr val="1723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1" name="Google Shape;4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3720405"/>
            <a:ext cx="152400" cy="152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2" name="Google Shape;452;p25"/>
          <p:cNvGraphicFramePr/>
          <p:nvPr/>
        </p:nvGraphicFramePr>
        <p:xfrm>
          <a:off x="542925" y="117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{CCEA8513-2580-43E6-8A0E-1AD22C019CE3}</a:tableStyleId>
              </a:tblPr>
              <a:tblGrid>
                <a:gridCol w="2568475"/>
                <a:gridCol w="4256475"/>
                <a:gridCol w="3351300"/>
                <a:gridCol w="929875"/>
              </a:tblGrid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Test Case 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Expected Behavior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Actual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9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927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Process Startup Validation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 &amp; Bob launch as separate Linux processes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PIDs assigned dynamically by OS kernel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Alice-to-Bob Pipe Messaging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Message routed via stdin; Bob responds with 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ACK received over stdout in &lt; 2ms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Bob-to-Alice Pipe Messaging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Message routed via stdin; Alice responds with 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ACK received over stdout in &lt; 2ms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Worker Termination Test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Killing C process flags offline state in UI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Exit event caught; UI updated to Offline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121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Invalid Data Injection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Malformed input rejected by 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75" u="none" cap="none" strike="noStrike">
                          <a:solidFill>
                            <a:srgbClr val="96A5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Prevented pipe write; error logged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75" u="none" cap="none" strike="noStrike">
                          <a:solidFill>
                            <a:srgbClr val="6EF2B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0D16"/>
                    </a:solidFill>
                  </a:tcPr>
                </a:tc>
              </a:tr>
            </a:tbl>
          </a:graphicData>
        </a:graphic>
      </p:graphicFrame>
      <p:sp>
        <p:nvSpPr>
          <p:cNvPr id="453" name="Google Shape;453;p25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VERIFICATION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Testing and Results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971550" y="3701355"/>
            <a:ext cx="11220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Verified Test Performance</a:t>
            </a:r>
            <a:endParaRPr/>
          </a:p>
        </p:txBody>
      </p:sp>
      <p:sp>
        <p:nvSpPr>
          <p:cNvPr id="456" name="Google Shape;456;p25"/>
          <p:cNvSpPr txBox="1"/>
          <p:nvPr/>
        </p:nvSpPr>
        <p:spPr>
          <a:xfrm>
            <a:off x="742950" y="3968055"/>
            <a:ext cx="114490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All 5 core IPC system test cases passed under Ubuntu Linux (WSL2) runtime environment with instantaneous message ACK latency under standard local workloads.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1" name="Google Shape;4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6"/>
          <p:cNvSpPr/>
          <p:nvPr/>
        </p:nvSpPr>
        <p:spPr>
          <a:xfrm>
            <a:off x="542925" y="3736627"/>
            <a:ext cx="11106150" cy="1543050"/>
          </a:xfrm>
          <a:prstGeom prst="roundRect">
            <a:avLst>
              <a:gd fmla="val 4938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6"/>
          <p:cNvSpPr/>
          <p:nvPr/>
        </p:nvSpPr>
        <p:spPr>
          <a:xfrm>
            <a:off x="542925" y="2365027"/>
            <a:ext cx="3600450" cy="1181100"/>
          </a:xfrm>
          <a:prstGeom prst="roundRect">
            <a:avLst>
              <a:gd fmla="val 645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6"/>
          <p:cNvSpPr/>
          <p:nvPr/>
        </p:nvSpPr>
        <p:spPr>
          <a:xfrm>
            <a:off x="4295775" y="2365027"/>
            <a:ext cx="3600450" cy="1181100"/>
          </a:xfrm>
          <a:prstGeom prst="roundRect">
            <a:avLst>
              <a:gd fmla="val 645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8048625" y="2365027"/>
            <a:ext cx="3600450" cy="1181100"/>
          </a:xfrm>
          <a:prstGeom prst="roundRect">
            <a:avLst>
              <a:gd fmla="val 645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5000625" y="4174777"/>
            <a:ext cx="2190750" cy="685800"/>
          </a:xfrm>
          <a:prstGeom prst="roundRect">
            <a:avLst>
              <a:gd fmla="val 8333" name="adj"/>
            </a:avLst>
          </a:prstGeom>
          <a:solidFill>
            <a:srgbClr val="0D131F"/>
          </a:solidFill>
          <a:ln cap="flat" cmpd="sng" w="9525">
            <a:solidFill>
              <a:srgbClr val="1A2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67" name="Google Shape;4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1562" y="3955702"/>
            <a:ext cx="1428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6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DEMONSTRATION</a:t>
            </a:r>
            <a:endParaRPr/>
          </a:p>
        </p:txBody>
      </p:sp>
      <p:sp>
        <p:nvSpPr>
          <p:cNvPr id="469" name="Google Shape;469;p26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Live Demo: IPC in Action</a:t>
            </a:r>
            <a:endParaRPr/>
          </a:p>
        </p:txBody>
      </p:sp>
      <p:sp>
        <p:nvSpPr>
          <p:cNvPr id="470" name="Google Shape;470;p26"/>
          <p:cNvSpPr txBox="1"/>
          <p:nvPr/>
        </p:nvSpPr>
        <p:spPr>
          <a:xfrm>
            <a:off x="-297656" y="3936652"/>
            <a:ext cx="127873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Terminal Verification Command</a:t>
            </a: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4879181" y="4250977"/>
            <a:ext cx="243363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1D9E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ps aux | grep worker</a:t>
            </a:r>
            <a:endParaRPr/>
          </a:p>
        </p:txBody>
      </p:sp>
      <p:sp>
        <p:nvSpPr>
          <p:cNvPr id="472" name="Google Shape;472;p26"/>
          <p:cNvSpPr txBox="1"/>
          <p:nvPr/>
        </p:nvSpPr>
        <p:spPr>
          <a:xfrm>
            <a:off x="-297656" y="4936777"/>
            <a:ext cx="127873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Confirms running binary PIDs match dashboard indicators in real-time.</a:t>
            </a:r>
            <a:endParaRPr/>
          </a:p>
        </p:txBody>
      </p:sp>
      <p:sp>
        <p:nvSpPr>
          <p:cNvPr id="473" name="Google Shape;473;p26"/>
          <p:cNvSpPr txBox="1"/>
          <p:nvPr/>
        </p:nvSpPr>
        <p:spPr>
          <a:xfrm>
            <a:off x="742950" y="2565052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474" name="Google Shape;474;p26"/>
          <p:cNvSpPr txBox="1"/>
          <p:nvPr/>
        </p:nvSpPr>
        <p:spPr>
          <a:xfrm>
            <a:off x="742950" y="2860327"/>
            <a:ext cx="4000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Initialize Runtime</a:t>
            </a:r>
            <a:endParaRPr/>
          </a:p>
        </p:txBody>
      </p:sp>
      <p:sp>
        <p:nvSpPr>
          <p:cNvPr id="475" name="Google Shape;475;p26"/>
          <p:cNvSpPr txBox="1"/>
          <p:nvPr/>
        </p:nvSpPr>
        <p:spPr>
          <a:xfrm>
            <a:off x="742950" y="3060352"/>
            <a:ext cx="40005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Launch Node backend inside Ubuntu WSL terminal window.</a:t>
            </a:r>
            <a:endParaRPr/>
          </a:p>
        </p:txBody>
      </p:sp>
      <p:sp>
        <p:nvSpPr>
          <p:cNvPr id="476" name="Google Shape;476;p26"/>
          <p:cNvSpPr txBox="1"/>
          <p:nvPr/>
        </p:nvSpPr>
        <p:spPr>
          <a:xfrm>
            <a:off x="4495800" y="2565052"/>
            <a:ext cx="4000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477" name="Google Shape;477;p26"/>
          <p:cNvSpPr txBox="1"/>
          <p:nvPr/>
        </p:nvSpPr>
        <p:spPr>
          <a:xfrm>
            <a:off x="4495800" y="2860327"/>
            <a:ext cx="4000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Verify PIDs</a:t>
            </a:r>
            <a:endParaRPr/>
          </a:p>
        </p:txBody>
      </p:sp>
      <p:sp>
        <p:nvSpPr>
          <p:cNvPr id="478" name="Google Shape;478;p26"/>
          <p:cNvSpPr txBox="1"/>
          <p:nvPr/>
        </p:nvSpPr>
        <p:spPr>
          <a:xfrm>
            <a:off x="4495800" y="3060352"/>
            <a:ext cx="3295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Open web dashboard and verify Alice and Bob OS process IDs.</a:t>
            </a:r>
            <a:endParaRPr/>
          </a:p>
        </p:txBody>
      </p:sp>
      <p:sp>
        <p:nvSpPr>
          <p:cNvPr id="479" name="Google Shape;479;p26"/>
          <p:cNvSpPr txBox="1"/>
          <p:nvPr/>
        </p:nvSpPr>
        <p:spPr>
          <a:xfrm>
            <a:off x="8248650" y="2565052"/>
            <a:ext cx="39433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480" name="Google Shape;480;p26"/>
          <p:cNvSpPr txBox="1"/>
          <p:nvPr/>
        </p:nvSpPr>
        <p:spPr>
          <a:xfrm>
            <a:off x="8248650" y="2860327"/>
            <a:ext cx="39433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Send Message</a:t>
            </a:r>
            <a:endParaRPr/>
          </a:p>
        </p:txBody>
      </p:sp>
      <p:sp>
        <p:nvSpPr>
          <p:cNvPr id="481" name="Google Shape;481;p26"/>
          <p:cNvSpPr txBox="1"/>
          <p:nvPr/>
        </p:nvSpPr>
        <p:spPr>
          <a:xfrm>
            <a:off x="8248650" y="3060352"/>
            <a:ext cx="3295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Dispatch message from Alice to Bob and observe the ACK receipt.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6" name="Google Shape;4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7"/>
          <p:cNvSpPr/>
          <p:nvPr/>
        </p:nvSpPr>
        <p:spPr>
          <a:xfrm>
            <a:off x="542925" y="1177230"/>
            <a:ext cx="3600450" cy="5290244"/>
          </a:xfrm>
          <a:prstGeom prst="roundRect">
            <a:avLst>
              <a:gd fmla="val 2116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4295775" y="1177230"/>
            <a:ext cx="3600450" cy="5290244"/>
          </a:xfrm>
          <a:prstGeom prst="roundRect">
            <a:avLst>
              <a:gd fmla="val 2116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8048625" y="1177230"/>
            <a:ext cx="3600450" cy="5290244"/>
          </a:xfrm>
          <a:prstGeom prst="roundRect">
            <a:avLst>
              <a:gd fmla="val 2116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90" name="Google Shape;4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" y="139630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5800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8650" y="139630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7"/>
          <p:cNvSpPr txBox="1"/>
          <p:nvPr/>
        </p:nvSpPr>
        <p:spPr>
          <a:xfrm>
            <a:off x="542925" y="390525"/>
            <a:ext cx="116490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PERSPECTIVE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542925" y="628650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Applications, Limitations &amp; Future Scope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933450" y="1377255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Applications</a:t>
            </a:r>
            <a:endParaRPr/>
          </a:p>
        </p:txBody>
      </p:sp>
      <p:sp>
        <p:nvSpPr>
          <p:cNvPr id="496" name="Google Shape;496;p27"/>
          <p:cNvSpPr txBox="1"/>
          <p:nvPr/>
        </p:nvSpPr>
        <p:spPr>
          <a:xfrm>
            <a:off x="4724400" y="1377255"/>
            <a:ext cx="377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Limitations</a:t>
            </a:r>
            <a:endParaRPr/>
          </a:p>
        </p:txBody>
      </p:sp>
      <p:sp>
        <p:nvSpPr>
          <p:cNvPr id="497" name="Google Shape;497;p27"/>
          <p:cNvSpPr txBox="1"/>
          <p:nvPr/>
        </p:nvSpPr>
        <p:spPr>
          <a:xfrm>
            <a:off x="8477250" y="1377255"/>
            <a:ext cx="3714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  <a:endParaRPr/>
          </a:p>
        </p:txBody>
      </p:sp>
      <p:sp>
        <p:nvSpPr>
          <p:cNvPr id="498" name="Google Shape;498;p27"/>
          <p:cNvSpPr txBox="1"/>
          <p:nvPr/>
        </p:nvSpPr>
        <p:spPr>
          <a:xfrm>
            <a:off x="809625" y="1644907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99" name="Google Shape;499;p27"/>
          <p:cNvSpPr txBox="1"/>
          <p:nvPr/>
        </p:nvSpPr>
        <p:spPr>
          <a:xfrm>
            <a:off x="876300" y="1643955"/>
            <a:ext cx="3833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Educational demonstration tool for OS IPC concepts.</a:t>
            </a:r>
            <a:endParaRPr/>
          </a:p>
        </p:txBody>
      </p:sp>
      <p:sp>
        <p:nvSpPr>
          <p:cNvPr id="500" name="Google Shape;500;p27"/>
          <p:cNvSpPr txBox="1"/>
          <p:nvPr/>
        </p:nvSpPr>
        <p:spPr>
          <a:xfrm>
            <a:off x="809625" y="1827668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01" name="Google Shape;501;p27"/>
          <p:cNvSpPr txBox="1"/>
          <p:nvPr/>
        </p:nvSpPr>
        <p:spPr>
          <a:xfrm>
            <a:off x="876300" y="1826716"/>
            <a:ext cx="316230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Visual debugging interface for standard stream monitoring.</a:t>
            </a:r>
            <a:endParaRPr/>
          </a:p>
        </p:txBody>
      </p:sp>
      <p:sp>
        <p:nvSpPr>
          <p:cNvPr id="502" name="Google Shape;502;p27"/>
          <p:cNvSpPr txBox="1"/>
          <p:nvPr/>
        </p:nvSpPr>
        <p:spPr>
          <a:xfrm>
            <a:off x="809625" y="2193190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03" name="Google Shape;503;p27"/>
          <p:cNvSpPr txBox="1"/>
          <p:nvPr/>
        </p:nvSpPr>
        <p:spPr>
          <a:xfrm>
            <a:off x="876300" y="2192238"/>
            <a:ext cx="3833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Baseline template for local microservice workers.</a:t>
            </a:r>
            <a:endParaRPr/>
          </a:p>
        </p:txBody>
      </p:sp>
      <p:sp>
        <p:nvSpPr>
          <p:cNvPr id="504" name="Google Shape;504;p27"/>
          <p:cNvSpPr txBox="1"/>
          <p:nvPr/>
        </p:nvSpPr>
        <p:spPr>
          <a:xfrm>
            <a:off x="4562475" y="1644907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05" name="Google Shape;505;p27"/>
          <p:cNvSpPr txBox="1"/>
          <p:nvPr/>
        </p:nvSpPr>
        <p:spPr>
          <a:xfrm>
            <a:off x="4629150" y="1643955"/>
            <a:ext cx="3833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Constrained to single-host Linux environment.</a:t>
            </a:r>
            <a:endParaRPr/>
          </a:p>
        </p:txBody>
      </p:sp>
      <p:sp>
        <p:nvSpPr>
          <p:cNvPr id="506" name="Google Shape;506;p27"/>
          <p:cNvSpPr txBox="1"/>
          <p:nvPr/>
        </p:nvSpPr>
        <p:spPr>
          <a:xfrm>
            <a:off x="4562475" y="1827668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07" name="Google Shape;507;p27"/>
          <p:cNvSpPr txBox="1"/>
          <p:nvPr/>
        </p:nvSpPr>
        <p:spPr>
          <a:xfrm>
            <a:off x="4629150" y="1826716"/>
            <a:ext cx="3833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In-memory volatile message state storage.</a:t>
            </a:r>
            <a:endParaRPr/>
          </a:p>
        </p:txBody>
      </p:sp>
      <p:sp>
        <p:nvSpPr>
          <p:cNvPr id="508" name="Google Shape;508;p27"/>
          <p:cNvSpPr txBox="1"/>
          <p:nvPr/>
        </p:nvSpPr>
        <p:spPr>
          <a:xfrm>
            <a:off x="4562475" y="2010429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09" name="Google Shape;509;p27"/>
          <p:cNvSpPr txBox="1"/>
          <p:nvPr/>
        </p:nvSpPr>
        <p:spPr>
          <a:xfrm>
            <a:off x="4629150" y="2009477"/>
            <a:ext cx="3833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Supports two hardcoded worker process channels.</a:t>
            </a:r>
            <a:endParaRPr/>
          </a:p>
        </p:txBody>
      </p:sp>
      <p:sp>
        <p:nvSpPr>
          <p:cNvPr id="510" name="Google Shape;510;p27"/>
          <p:cNvSpPr txBox="1"/>
          <p:nvPr/>
        </p:nvSpPr>
        <p:spPr>
          <a:xfrm>
            <a:off x="8315325" y="1644907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1" name="Google Shape;511;p27"/>
          <p:cNvSpPr txBox="1"/>
          <p:nvPr/>
        </p:nvSpPr>
        <p:spPr>
          <a:xfrm>
            <a:off x="8382000" y="1643955"/>
            <a:ext cx="38100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Support dynamic multi-process worker spawning.</a:t>
            </a:r>
            <a:endParaRPr/>
          </a:p>
        </p:txBody>
      </p:sp>
      <p:sp>
        <p:nvSpPr>
          <p:cNvPr id="512" name="Google Shape;512;p27"/>
          <p:cNvSpPr txBox="1"/>
          <p:nvPr/>
        </p:nvSpPr>
        <p:spPr>
          <a:xfrm>
            <a:off x="8315325" y="1827668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3" name="Google Shape;513;p27"/>
          <p:cNvSpPr txBox="1"/>
          <p:nvPr/>
        </p:nvSpPr>
        <p:spPr>
          <a:xfrm>
            <a:off x="8382000" y="1826716"/>
            <a:ext cx="316230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Implement POSIX Named Pipes (FIFOs) and Shared Memory.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8315325" y="2193190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15" name="Google Shape;515;p27"/>
          <p:cNvSpPr txBox="1"/>
          <p:nvPr/>
        </p:nvSpPr>
        <p:spPr>
          <a:xfrm>
            <a:off x="8382000" y="2192238"/>
            <a:ext cx="38100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Add persistent SQLite message storage and analytics.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0" name="Google Shape;52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8"/>
          <p:cNvSpPr/>
          <p:nvPr/>
        </p:nvSpPr>
        <p:spPr>
          <a:xfrm>
            <a:off x="5510212" y="1757362"/>
            <a:ext cx="1171575" cy="209550"/>
          </a:xfrm>
          <a:prstGeom prst="roundRect">
            <a:avLst>
              <a:gd fmla="val 18181" name="adj"/>
            </a:avLst>
          </a:prstGeom>
          <a:solidFill>
            <a:srgbClr val="172337"/>
          </a:solidFill>
          <a:ln cap="flat" cmpd="sng" w="9525">
            <a:solidFill>
              <a:srgbClr val="23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5048250" y="3719512"/>
            <a:ext cx="2095500" cy="923925"/>
          </a:xfrm>
          <a:prstGeom prst="roundRect">
            <a:avLst>
              <a:gd fmla="val 12371" name="adj"/>
            </a:avLst>
          </a:prstGeom>
          <a:solidFill>
            <a:srgbClr val="111927"/>
          </a:solidFill>
          <a:ln cap="flat" cmpd="sng" w="9525">
            <a:solidFill>
              <a:srgbClr val="1C2A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 txBox="1"/>
          <p:nvPr/>
        </p:nvSpPr>
        <p:spPr>
          <a:xfrm>
            <a:off x="5439965" y="1785937"/>
            <a:ext cx="13120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EF2B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SUMMARY</a:t>
            </a:r>
            <a:endParaRPr/>
          </a:p>
        </p:txBody>
      </p:sp>
      <p:sp>
        <p:nvSpPr>
          <p:cNvPr id="524" name="Google Shape;524;p28"/>
          <p:cNvSpPr txBox="1"/>
          <p:nvPr/>
        </p:nvSpPr>
        <p:spPr>
          <a:xfrm>
            <a:off x="4833342" y="2119312"/>
            <a:ext cx="252531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1333500" y="2690812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6A5BA"/>
                </a:solidFill>
                <a:latin typeface="Inter"/>
                <a:ea typeface="Inter"/>
                <a:cs typeface="Inter"/>
                <a:sym typeface="Inter"/>
              </a:rPr>
              <a:t>This project successfully bridges operating system fundamentals with modern web engineering, demonstrating real-time message exchange between independent C processes using Linux standard streams and OS-managed pipes.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3970734" y="4948237"/>
            <a:ext cx="4250531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Contact / Team: [Your Email / Team Contact Details]</a:t>
            </a:r>
            <a:endParaRPr/>
          </a:p>
        </p:txBody>
      </p:sp>
      <p:sp>
        <p:nvSpPr>
          <p:cNvPr id="527" name="Google Shape;527;p28"/>
          <p:cNvSpPr txBox="1"/>
          <p:nvPr/>
        </p:nvSpPr>
        <p:spPr>
          <a:xfrm>
            <a:off x="5274468" y="3957637"/>
            <a:ext cx="16430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EF2B1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/>
          </a:p>
        </p:txBody>
      </p:sp>
      <p:sp>
        <p:nvSpPr>
          <p:cNvPr id="528" name="Google Shape;528;p28"/>
          <p:cNvSpPr txBox="1"/>
          <p:nvPr/>
        </p:nvSpPr>
        <p:spPr>
          <a:xfrm>
            <a:off x="5274468" y="4243387"/>
            <a:ext cx="16430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9EEF7"/>
                </a:solidFill>
                <a:latin typeface="Inter"/>
                <a:ea typeface="Inter"/>
                <a:cs typeface="Inter"/>
                <a:sym typeface="Inter"/>
              </a:rPr>
              <a:t>Questions &amp; Answers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